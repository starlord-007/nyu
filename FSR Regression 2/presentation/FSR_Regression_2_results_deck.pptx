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saying this is not a random-row prediction exercise. The key audience takeaway is honest extrapolation to new papers, not interpolation within papers already seen during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set expectations: lower group-aware metrics are not a failure. They are the more realistic estimate of performance on a new campaign.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the code automatically detects target, group, leakage columns, and feature types, which makes the pipeline less brittle but still requires review of parsed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final holdout ranking is MLP, KNN, XGBoost, Decision Tree. Do not overstate MLP dominance because KNN is close and paper-level variance is large.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important because it prevents overclaiming. A skeptical reviewer will notice the CV/holdout mismatch if they inspect the result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random split performance can be real interpolation skill, but not evidence that a model will transfer to a new paper. Some negative gaps are possible because the two test sets are not identical in target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bootstrap samples are drawn only from training papers, so the setup avoids leakage. The result is mixed, so the main story should stay model generalization and feature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best slide for scientific interpretation. The model is not equally wrong everywhere; it struggles when a held-out paper occupies a different experimental regime.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saying negative pressure importance means pressure is physically unimportant. It means this trained model/split did not rely on pressure in a stable way under permutation.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SHAP as a qualitative explanation, not causal proof. The presence of rig/facility variables says the model is learning campaign context as well as physics.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practical checklist slide for assembling a shorter oral deck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a balanced claim: promising extrapolation signal exists, but single-split sensitivity is the main limitation to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FSR Regression 2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</a:defRPr>
            </a:pPr>
            <a:r>
              <a:t>Paper-aware machine learning for flame spread rate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658368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t>Goal: predict Flame Spread Rate (FSR) from microgravity-combustion literature data.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t>Main question: how well does the model extrapolate to a completely unseen paper/campaign?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t>Use the current result files in FSR Regression 2/results; old report files are not used.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074920"/>
            <a:ext cx="10698480" cy="777240"/>
          </a:xfrm>
          <a:prstGeom prst="roundRect">
            <a:avLst/>
          </a:prstGeom>
          <a:solidFill>
            <a:srgbClr val="E8F2FC"/>
          </a:solidFill>
          <a:ln>
            <a:solidFill>
              <a:srgbClr val="2A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323"/>
                </a:solidFill>
              </a:defRPr>
            </a:pPr>
            <a:r>
              <a:t>Headline: MLP gives the best final unseen-paper holdout RMSE, KNN is close; oxygen concentration is the strongest driver.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Why the paper-aware split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675120" cy="40233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Rows from the same paper share facility, team, diagnostics, material batches, and operating ranges.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A random split can put the same paper in both training and test, inflating apparent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The primary result uses group-aware splitting by Article (MLA): a paper is entirely train or entirely test.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Hyperparameter search uses GroupKFold so validation folds also hold out complete papers.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1874519"/>
            <a:ext cx="3840480" cy="1417320"/>
          </a:xfrm>
          <a:prstGeom prst="roundRect">
            <a:avLst/>
          </a:prstGeom>
          <a:solidFill>
            <a:srgbClr val="E8F2FC"/>
          </a:solidFill>
          <a:ln>
            <a:solidFill>
              <a:srgbClr val="2A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323"/>
                </a:solidFill>
              </a:defRPr>
            </a:pPr>
            <a:r>
              <a:t>Interpret random split as an optimistic interpolation baseline; interpret group-aware split as the scientific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Data and modeling pipeline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23444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918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Initial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5118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Rows with valid FSR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2605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Unique papers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FSR (Flame Spread Rate)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Grouping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Article (MLA)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Features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8 numeric + 6 categorical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80760" y="1143000"/>
            <a:ext cx="5349240" cy="4297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Target is parsed numerically from the FSR column.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Post-experiment outputs and paper identifiers are removed to prevent leakage.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Numeric columns are imputed/scaled; categorical columns are one-hot encoded with unknown categories ignored.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Models compared: Decision Tree, XGBoost, KNN, and MLP.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Primary holdout result: unseen-paper performance</a:t>
            </a:r>
          </a:p>
        </p:txBody>
      </p:sp>
      <p:pic>
        <p:nvPicPr>
          <p:cNvPr id="3" name="Picture 2" descr="primary_group_holdout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5943600" cy="3304928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20840" y="1234440"/>
          <a:ext cx="4846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720"/>
                <a:gridCol w="807720"/>
                <a:gridCol w="807720"/>
                <a:gridCol w="807720"/>
                <a:gridCol w="807720"/>
                <a:gridCol w="80772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MBE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0.553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10.643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215.872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2.872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0.519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11.047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5.619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216.017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2.166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0.326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13.075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6.409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282.505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2.206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0.084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15.241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7.398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295.594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2.829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720840" y="4389120"/>
            <a:ext cx="4846320" cy="1005840"/>
          </a:xfrm>
          <a:prstGeom prst="roundRect">
            <a:avLst/>
          </a:prstGeom>
          <a:solidFill>
            <a:srgbClr val="E8F2FC"/>
          </a:solidFill>
          <a:ln>
            <a:solidFill>
              <a:srgbClr val="2A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323"/>
                </a:solidFill>
              </a:defRPr>
            </a:pPr>
            <a:r>
              <a:t>Interpretation: MLP is best on this final group holdout (RMSE 10.64, R² 0.55), with KNN close. Tree models trail on the same held-out papers.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Model selection caveat: CV choice vs final holdout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143000"/>
          <a:ext cx="4754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GroupKFold CV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12.940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13.275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13.414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13.826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806440" y="1097280"/>
            <a:ext cx="5577840" cy="4206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metrics.json marks Decision Tree as best by GroupKFold CV RMSE.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The final group holdout table ranks Decision Tree last and MLP first.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This mismatch means one paper split is noisy; paper-level composition strongly affects conclusions.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Presentation recommendation: show both and propose repeated group splits before making a final model claim.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937760"/>
            <a:ext cx="10607040" cy="868680"/>
          </a:xfrm>
          <a:prstGeom prst="roundRect">
            <a:avLst/>
          </a:prstGeom>
          <a:solidFill>
            <a:srgbClr val="E8F2FC"/>
          </a:solidFill>
          <a:ln>
            <a:solidFill>
              <a:srgbClr val="2A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323"/>
                </a:solidFill>
              </a:defRPr>
            </a:pPr>
            <a:r>
              <a:t>Best scientific phrasing: “On this held-out paper split, MLP performs best; CV selection is unstable and needs repeated-group validation.”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Random split looks better for some models</a:t>
            </a:r>
          </a:p>
        </p:txBody>
      </p:sp>
      <p:pic>
        <p:nvPicPr>
          <p:cNvPr id="3" name="Picture 2" descr="random_vs_group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6400800" cy="3423418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60920" y="1280160"/>
          <a:ext cx="4160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130"/>
                <a:gridCol w="1040130"/>
                <a:gridCol w="1040130"/>
                <a:gridCol w="1040130"/>
              </a:tblGrid>
              <a:tr h="49377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Random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Group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Generalization Gap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11.130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10.643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-0.487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8.337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11.047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2.710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13.059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13.075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0.017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15.971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15.241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-0.730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60920" y="4343400"/>
            <a:ext cx="4160520" cy="868680"/>
          </a:xfrm>
          <a:prstGeom prst="roundRect">
            <a:avLst/>
          </a:prstGeom>
          <a:solidFill>
            <a:srgbClr val="E8F2FC"/>
          </a:solidFill>
          <a:ln>
            <a:solidFill>
              <a:srgbClr val="2A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323"/>
                </a:solidFill>
              </a:defRPr>
            </a:pPr>
            <a:r>
              <a:t>KNN shows the clearest optimism: RMSE rises from 8.34 random to 11.05 group-aware.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Bootstrap augmentation: not a universal improvement</a:t>
            </a:r>
          </a:p>
        </p:txBody>
      </p:sp>
      <p:pic>
        <p:nvPicPr>
          <p:cNvPr id="3" name="Picture 2" descr="bootstrap_delta_group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6492240" cy="3472324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6640" y="1325880"/>
          <a:ext cx="40690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270"/>
                <a:gridCol w="1017270"/>
                <a:gridCol w="1017270"/>
                <a:gridCol w="1017270"/>
              </a:tblGrid>
              <a:tr h="4846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Group RMSE (RD)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Group RMSE (RD+BT)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Group dRMSE (BT-RD)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10.643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11.111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0.468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11.047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10.996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-0.051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13.075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13.136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0.061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15.241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14.963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-0.278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406640" y="4343400"/>
            <a:ext cx="4069080" cy="960120"/>
          </a:xfrm>
          <a:prstGeom prst="roundRect">
            <a:avLst/>
          </a:prstGeom>
          <a:solidFill>
            <a:srgbClr val="E8F2FC"/>
          </a:solidFill>
          <a:ln>
            <a:solidFill>
              <a:srgbClr val="2A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323"/>
                </a:solidFill>
              </a:defRPr>
            </a:pPr>
            <a:r>
              <a:t>Interpretation: BT is marginal for KNN and Decision Tree, slightly harmful for MLP/XGBoost in the current CSVs; do not center the presentation around augmentation gains.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Paper-level errors: averages hide failure modes</a:t>
            </a:r>
          </a:p>
        </p:txBody>
      </p:sp>
      <p:pic>
        <p:nvPicPr>
          <p:cNvPr id="3" name="Picture 2" descr="worst_per_paper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7772400" cy="33772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1417320"/>
            <a:ext cx="3246120" cy="32918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Worst-case papers dominate aggregate RMSE.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Older NASA/weightlessness datasets and high-FSR campaigns are recurring hard cases.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Use per-paper tables to discuss where extrapolation fails, not only average RMSE.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4846320"/>
            <a:ext cx="3246120" cy="685800"/>
          </a:xfrm>
          <a:prstGeom prst="roundRect">
            <a:avLst/>
          </a:prstGeom>
          <a:solidFill>
            <a:srgbClr val="E8F2FC"/>
          </a:solidFill>
          <a:ln>
            <a:solidFill>
              <a:srgbClr val="2A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323"/>
                </a:solidFill>
              </a:defRPr>
            </a:pPr>
            <a:r>
              <a:t>Recommended table: top 5 worst papers by RMSE for MLP and KNN.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Feature drivers from permutation importance</a:t>
            </a:r>
          </a:p>
        </p:txBody>
      </p:sp>
      <p:pic>
        <p:nvPicPr>
          <p:cNvPr id="3" name="Picture 2" descr="permutation_importance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6675120" cy="39091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35240" y="1143000"/>
            <a:ext cx="3931920" cy="4297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Oxygen concentration is the dominant predictor by a large margin.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Sample dimensions, rig, facility, geometry, and material add secondary information.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Negative permutation values indicate noisy/proxy features where shuffling did not hurt RMSE on this split.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Physical read: oxidizer availability leads; geometry and campaign context define the transport regime.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SHAP interpretation: robust drivers across tree checks</a:t>
            </a:r>
          </a:p>
        </p:txBody>
      </p:sp>
      <p:pic>
        <p:nvPicPr>
          <p:cNvPr id="3" name="Picture 2" descr="shap_top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9235440" cy="435868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5650992"/>
            <a:ext cx="10789920" cy="594360"/>
          </a:xfrm>
          <a:prstGeom prst="roundRect">
            <a:avLst/>
          </a:prstGeom>
          <a:solidFill>
            <a:srgbClr val="E8F2FC"/>
          </a:solidFill>
          <a:ln>
            <a:solidFill>
              <a:srgbClr val="2A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323"/>
                </a:solidFill>
              </a:defRPr>
            </a:pPr>
            <a:r>
              <a:t>Robust message: oxygen, size/geometry, pressure, rig/facility, and material explain most model movement.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What figures/tables to put in the final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4937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Table: data summary and leakage-prevention choices.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Figure: group-aware RMSE/R² comparison across the four models.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Table: primary group-aware metrics; keep random-split metrics separate.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Figure: random vs group RMSE to show paper-specific overfitting risk.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Figure/table: bootstrap delta RMSE; treat as secondary.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Figure: per-paper worst cases; use this to discuss extrapolation limits.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Figures: permutation importance and SHAP top features for interpretability.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Conclusions for the results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789920" cy="47548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The honest evaluation is unseen-paper extrapolation, not random-row interpolation.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Current final holdout: MLP has the lowest group-aware RMSE (10.64) and highest R² (0.55); KNN is close.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Random split overstates KNN performance and should not be used as the primary claim.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Bootstrap resampling has mixed effects and is not the main performance driver.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Oxygen concentration is the strongest and most physically plausible driver; geometry, pressure, facility/rig, and material are secondary.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Next result to add before publication: repeated GroupShuffleSplit / nested group validation to resolve CV-vs-holdout instability.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