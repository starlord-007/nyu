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236" autoAdjust="0"/>
  </p:normalViewPr>
  <p:slideViewPr>
    <p:cSldViewPr snapToGrid="0" snapToObjects="1">
      <p:cViewPr>
        <p:scale>
          <a:sx n="86" d="100"/>
          <a:sy n="86" d="100"/>
        </p:scale>
        <p:origin x="222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2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9054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by saying this is not a random-row prediction exercise. The key audience takeaway is honest extrapolation to new papers, not interpolation within papers already seen during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this slide to set expectations: lower group-aware metrics are not a failure. They are the more realistic estimate of performance on a new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Mention that the code automatically detects target, group, leakage columns, and feature types, which makes the pipeline less brittle but still requires review of parsed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Say the final holdout ranking is MLP, KNN, </a:t>
            </a:r>
            <a:r>
              <a:rPr dirty="0" err="1"/>
              <a:t>XGBoost</a:t>
            </a:r>
            <a:r>
              <a:rPr dirty="0"/>
              <a:t>, Decision Tree. Do not overstate MLP dominance because KNN is close and paper-level variance is large.</a:t>
            </a:r>
            <a:endParaRPr lang="en-GB" dirty="0"/>
          </a:p>
          <a:p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DT, or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Decision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Tree,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 model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that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makes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predictions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by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splitting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the data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into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sequence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of simple yes/no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rules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 It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easy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interpret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because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you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can trace the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path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from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the input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features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to the final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prediction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main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weakness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that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 single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tree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can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overfit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if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grows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too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deep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XGB, or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XGBoost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an ensemble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method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that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combines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many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small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decision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trees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improve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prediction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accuracy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Each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new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tree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trained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to correct the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errors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made by the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previous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ones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which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makes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the model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strong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at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capturing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complex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patterns. It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usually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more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accurate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than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 single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tree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but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less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interpretable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KNN, or K-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Nearest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Neighbors,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predicts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 value by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looking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at the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most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similar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training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examples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 It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does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not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learn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fixed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parametric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model;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instead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relies on the distance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between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new points and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existing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points in the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dataset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 It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simple and intuitive, but can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become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slow and sensitive to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feature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scaling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the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dataset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is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large.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is important because it prevents overclaiming. A skeptical reviewer will notice the CV/holdout mismatch if they inspect the result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that random split performance can be real interpolation skill, but not evidence that a model will transfer to a new paper. Some negative gaps are possible because the two test sets are not identical in target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bootstrap samples are drawn only from training papers, so the setup avoids leakage. The result is mixed, so the main story should stay model generalization and feature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best slide for scientific interpretation. The model is not equally wrong everywhere; it struggles when a held-out paper occupies a different experimental regime.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Avoid saying negative pressure importance means pressure is physically unimportant. It means this trained model/split did not rely on pressure in a stable way under permutation.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SHAP as a qualitative explanation, not causal proof. The presence of rig/facility variables says the model is learning campaign context as well as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with a balanced claim: promising extrapolation signal exists, but single-split sensitivity is the main limitation to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364227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 dirty="0"/>
              <a:t>FSR Regression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5F5F"/>
                </a:solidFill>
              </a:defRPr>
            </a:pPr>
            <a:r>
              <a:rPr dirty="0"/>
              <a:t>Paper-aware machine learning for flame spread rate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6583680" cy="1210588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32323"/>
                </a:solidFill>
              </a:defRPr>
            </a:pPr>
            <a:r>
              <a:rPr lang="en-GB" dirty="0" err="1"/>
              <a:t>Tartget</a:t>
            </a:r>
            <a:r>
              <a:rPr dirty="0"/>
              <a:t>: predict Flame Spread Rate (FSR)</a:t>
            </a:r>
            <a:endParaRPr lang="en-GB" dirty="0"/>
          </a:p>
          <a:p>
            <a:pPr>
              <a:spcAft>
                <a:spcPts val="800"/>
              </a:spcAft>
              <a:defRPr sz="2200">
                <a:solidFill>
                  <a:srgbClr val="232323"/>
                </a:solidFill>
              </a:defRPr>
            </a:pPr>
            <a:r>
              <a:rPr dirty="0"/>
              <a:t>Main question: how well does the model extrapolate to a completely unseen paper/campaign?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074920"/>
            <a:ext cx="10698480" cy="777240"/>
          </a:xfrm>
          <a:prstGeom prst="roundRect">
            <a:avLst/>
          </a:prstGeom>
          <a:solidFill>
            <a:srgbClr val="E8F2FC"/>
          </a:solidFill>
          <a:ln>
            <a:solidFill>
              <a:srgbClr val="2A6F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32323"/>
                </a:solidFill>
              </a:defRPr>
            </a:pPr>
            <a:r>
              <a:t>Headline: MLP gives the best final unseen-paper holdout RMSE, KNN is close; oxygen concentration is the strongest driver.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Why the paper-aware split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6675120" cy="40233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323"/>
                </a:solidFill>
              </a:defRPr>
            </a:pPr>
            <a:r>
              <a:rPr dirty="0"/>
              <a:t>Rows from the same paper share facility, team, diagnostics, material batches, and operating ranges.</a:t>
            </a:r>
          </a:p>
          <a:p>
            <a:pPr>
              <a:spcAft>
                <a:spcPts val="800"/>
              </a:spcAft>
              <a:defRPr sz="2000">
                <a:solidFill>
                  <a:srgbClr val="232323"/>
                </a:solidFill>
              </a:defRPr>
            </a:pPr>
            <a:r>
              <a:rPr dirty="0"/>
              <a:t>A random split can put the same paper in both training and test, inflating apparent performance.</a:t>
            </a:r>
          </a:p>
          <a:p>
            <a:pPr>
              <a:spcAft>
                <a:spcPts val="800"/>
              </a:spcAft>
              <a:defRPr sz="2000">
                <a:solidFill>
                  <a:srgbClr val="232323"/>
                </a:solidFill>
              </a:defRPr>
            </a:pPr>
            <a:r>
              <a:rPr dirty="0"/>
              <a:t>The primary result uses group-aware splitting by Article (MLA): a paper is entirely train or entirely test.</a:t>
            </a:r>
          </a:p>
          <a:p>
            <a:pPr>
              <a:spcAft>
                <a:spcPts val="800"/>
              </a:spcAft>
              <a:defRPr sz="2000">
                <a:solidFill>
                  <a:srgbClr val="232323"/>
                </a:solidFill>
              </a:defRPr>
            </a:pPr>
            <a:r>
              <a:rPr dirty="0"/>
              <a:t>Hyperparameter search uses </a:t>
            </a:r>
            <a:r>
              <a:rPr dirty="0" err="1"/>
              <a:t>GroupKFold</a:t>
            </a:r>
            <a:r>
              <a:rPr dirty="0"/>
              <a:t> so validation folds also hold out complete papers.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Data and modeling pipeline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23444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Initial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5118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Rows with valid FSR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2605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Unique papers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FSR (Flame Spread Rate)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Grouping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Article (MLA)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Features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323"/>
                          </a:solidFill>
                        </a:defRPr>
                      </a:pPr>
                      <a:r>
                        <a:t>8 numeric + 6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080760" y="1143000"/>
            <a:ext cx="5349240" cy="42976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32323"/>
                </a:solidFill>
              </a:defRPr>
            </a:pPr>
            <a:r>
              <a:t>Target is parsed numerically from the FSR column.</a:t>
            </a:r>
          </a:p>
          <a:p>
            <a:pPr>
              <a:spcAft>
                <a:spcPts val="800"/>
              </a:spcAft>
              <a:defRPr sz="1800">
                <a:solidFill>
                  <a:srgbClr val="232323"/>
                </a:solidFill>
              </a:defRPr>
            </a:pPr>
            <a:r>
              <a:t>Post-experiment outputs and paper identifiers are removed to prevent leakage.</a:t>
            </a:r>
          </a:p>
          <a:p>
            <a:pPr>
              <a:spcAft>
                <a:spcPts val="800"/>
              </a:spcAft>
              <a:defRPr sz="1800">
                <a:solidFill>
                  <a:srgbClr val="232323"/>
                </a:solidFill>
              </a:defRPr>
            </a:pPr>
            <a:r>
              <a:t>Numeric columns are imputed/scaled; categorical columns are one-hot encoded with unknown categories ignored.</a:t>
            </a:r>
          </a:p>
          <a:p>
            <a:pPr>
              <a:spcAft>
                <a:spcPts val="800"/>
              </a:spcAft>
              <a:defRPr sz="1800">
                <a:solidFill>
                  <a:srgbClr val="232323"/>
                </a:solidFill>
              </a:defRPr>
            </a:pPr>
            <a:r>
              <a:t>Models compared: Decision Tree, XGBoost, KNN, and MLP.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 dirty="0"/>
              <a:t>Primary holdout result: unseen-paper performance</a:t>
            </a:r>
          </a:p>
        </p:txBody>
      </p:sp>
      <p:pic>
        <p:nvPicPr>
          <p:cNvPr id="3" name="Picture 2" descr="primary_group_holdout_rm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943600" cy="3304928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20840" y="1234440"/>
          <a:ext cx="4846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7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7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7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7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R2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MAPE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MBE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0.553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10.643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5.841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215.872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2.872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0.519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11.047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5.619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216.017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2.166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0.326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13.075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6.409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282.505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2.206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0.084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15.241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7.398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t>295.594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32323"/>
                          </a:solidFill>
                        </a:defRPr>
                      </a:pPr>
                      <a:r>
                        <a:rPr dirty="0"/>
                        <a:t>2.829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720840" y="4389120"/>
            <a:ext cx="4846320" cy="1005840"/>
          </a:xfrm>
          <a:prstGeom prst="roundRect">
            <a:avLst/>
          </a:prstGeom>
          <a:solidFill>
            <a:srgbClr val="E8F2FC"/>
          </a:solidFill>
          <a:ln>
            <a:solidFill>
              <a:srgbClr val="2A6F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32323"/>
                </a:solidFill>
              </a:defRPr>
            </a:pPr>
            <a:r>
              <a:rPr dirty="0"/>
              <a:t>MLP is best on this final group holdout (RMSE 10.64, R² 0.55), with KNN close. Tree models trail on the same held-out papers.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Model selection caveat: CV choice vs final holdout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143000"/>
          <a:ext cx="4754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GroupKFold CV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32323"/>
                          </a:solidFill>
                        </a:defRPr>
                      </a:pPr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32323"/>
                          </a:solidFill>
                        </a:defRPr>
                      </a:pPr>
                      <a:r>
                        <a:t>12.940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32323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32323"/>
                          </a:solidFill>
                        </a:defRPr>
                      </a:pPr>
                      <a:r>
                        <a:t>13.275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32323"/>
                          </a:solidFill>
                        </a:defRPr>
                      </a:pPr>
                      <a:r>
                        <a:t>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32323"/>
                          </a:solidFill>
                        </a:defRPr>
                      </a:pPr>
                      <a:r>
                        <a:t>13.414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32323"/>
                          </a:solidFill>
                        </a:defRPr>
                      </a:pPr>
                      <a:r>
                        <a:t>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32323"/>
                          </a:solidFill>
                        </a:defRPr>
                      </a:pPr>
                      <a:r>
                        <a:t>13.826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06440" y="1097280"/>
            <a:ext cx="5577840" cy="42062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rPr dirty="0" err="1"/>
              <a:t>metrics.json</a:t>
            </a:r>
            <a:r>
              <a:rPr dirty="0"/>
              <a:t> marks Decision Tree as best by </a:t>
            </a:r>
            <a:r>
              <a:rPr dirty="0" err="1"/>
              <a:t>GroupKFold</a:t>
            </a:r>
            <a:r>
              <a:rPr dirty="0"/>
              <a:t> CV RMSE.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rPr dirty="0"/>
              <a:t>The final group holdout table ranks Decision Tree last and MLP first.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rPr dirty="0"/>
              <a:t>This mismatch means one paper split is noisy; paper-level composition strongly affects conclusions.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rPr dirty="0"/>
              <a:t>Presentation recommendation: show both and propose repeated group splits before making a final model claim.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937760"/>
            <a:ext cx="10607040" cy="868680"/>
          </a:xfrm>
          <a:prstGeom prst="roundRect">
            <a:avLst/>
          </a:prstGeom>
          <a:solidFill>
            <a:srgbClr val="E8F2FC"/>
          </a:solidFill>
          <a:ln>
            <a:solidFill>
              <a:srgbClr val="2A6F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32323"/>
                </a:solidFill>
              </a:defRPr>
            </a:pPr>
            <a:r>
              <a:rPr dirty="0"/>
              <a:t>On this held-out paper split, MLP performs best; CV selection is unstable and needs repeated-group validation.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Random split looks better for some models</a:t>
            </a:r>
          </a:p>
        </p:txBody>
      </p:sp>
      <p:pic>
        <p:nvPicPr>
          <p:cNvPr id="3" name="Picture 2" descr="random_vs_group_rm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6400800" cy="3423418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60920" y="1280160"/>
          <a:ext cx="4160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0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0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01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Random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Group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Generalization Gap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11.130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10.643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-0.487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8.337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11.047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2.710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13.059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13.075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0.017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15.971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15.241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-0.730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60920" y="4343400"/>
            <a:ext cx="4160520" cy="868680"/>
          </a:xfrm>
          <a:prstGeom prst="roundRect">
            <a:avLst/>
          </a:prstGeom>
          <a:solidFill>
            <a:srgbClr val="E8F2FC"/>
          </a:solidFill>
          <a:ln>
            <a:solidFill>
              <a:srgbClr val="2A6F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32323"/>
                </a:solidFill>
              </a:defRPr>
            </a:pPr>
            <a:r>
              <a:t>KNN shows the clearest optimism: RMSE rises from 8.34 random to 11.05 group-aware.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Bootstrap augmentation: not a universal improvement</a:t>
            </a:r>
          </a:p>
        </p:txBody>
      </p:sp>
      <p:pic>
        <p:nvPicPr>
          <p:cNvPr id="3" name="Picture 2" descr="bootstrap_delta_group_rm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6492240" cy="3472324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06640" y="1325880"/>
          <a:ext cx="406908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2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72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Group RMSE (RD)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Group RMSE (RD+BT)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Group dRMSE (BT-RD)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10.643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11.111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0.468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11.047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10.996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-0.051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13.075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13.136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0.061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15.241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14.963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32323"/>
                          </a:solidFill>
                        </a:defRPr>
                      </a:pPr>
                      <a:r>
                        <a:t>-0.278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06640" y="4343400"/>
            <a:ext cx="4069080" cy="960120"/>
          </a:xfrm>
          <a:prstGeom prst="roundRect">
            <a:avLst/>
          </a:prstGeom>
          <a:solidFill>
            <a:srgbClr val="E8F2FC"/>
          </a:solidFill>
          <a:ln>
            <a:solidFill>
              <a:srgbClr val="2A6F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32323"/>
                </a:solidFill>
              </a:defRPr>
            </a:pPr>
            <a:r>
              <a:rPr dirty="0"/>
              <a:t>BT is marginal for KNN and Decision Tree, slightly harmful for MLP/</a:t>
            </a:r>
            <a:r>
              <a:rPr dirty="0" err="1"/>
              <a:t>XGBoost</a:t>
            </a:r>
            <a:r>
              <a:rPr dirty="0"/>
              <a:t> in the current CSVs; do not center the presentation around augmentation gains.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Paper-level errors: averages hide failure modes</a:t>
            </a:r>
          </a:p>
        </p:txBody>
      </p:sp>
      <p:pic>
        <p:nvPicPr>
          <p:cNvPr id="3" name="Picture 2" descr="worst_per_paper_rm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7772400" cy="33772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49640" y="1417320"/>
            <a:ext cx="3246120" cy="32918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</a:defRPr>
            </a:pPr>
            <a:r>
              <a:t>Worst-case papers dominate aggregate RMSE.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</a:defRPr>
            </a:pPr>
            <a:r>
              <a:t>Older NASA/weightlessness datasets and high-FSR campaigns are recurring hard cases.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</a:defRPr>
            </a:pPr>
            <a:r>
              <a:t>Use per-paper tables to discuss where extrapolation fails, not only average RMSE.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Feature drivers from permutation importance</a:t>
            </a:r>
          </a:p>
        </p:txBody>
      </p:sp>
      <p:pic>
        <p:nvPicPr>
          <p:cNvPr id="3" name="Picture 2" descr="permutation_importance_to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960120"/>
            <a:ext cx="6675120" cy="39091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35240" y="1143000"/>
            <a:ext cx="3931920" cy="42976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</a:defRPr>
            </a:pPr>
            <a:r>
              <a:t>Oxygen concentration is the dominant predictor by a large margin.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</a:defRPr>
            </a:pPr>
            <a:r>
              <a:t>Sample dimensions, rig, facility, geometry, and material add secondary information.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</a:defRPr>
            </a:pPr>
            <a:r>
              <a:t>Negative permutation values indicate noisy/proxy features where shuffling did not hurt RMSE on this split.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</a:defRPr>
            </a:pPr>
            <a:r>
              <a:t>Physical read: oxidizer availability leads; geometry and campaign context define the transport regime.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SHAP interpretation: robust drivers across tree checks</a:t>
            </a:r>
          </a:p>
        </p:txBody>
      </p:sp>
      <p:pic>
        <p:nvPicPr>
          <p:cNvPr id="3" name="Picture 2" descr="shap_top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14400"/>
            <a:ext cx="9235440" cy="435868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85800" y="5650992"/>
            <a:ext cx="10789920" cy="594360"/>
          </a:xfrm>
          <a:prstGeom prst="roundRect">
            <a:avLst/>
          </a:prstGeom>
          <a:solidFill>
            <a:srgbClr val="E8F2FC"/>
          </a:solidFill>
          <a:ln>
            <a:solidFill>
              <a:srgbClr val="2A6F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32323"/>
                </a:solidFill>
              </a:defRPr>
            </a:pPr>
            <a:r>
              <a:rPr dirty="0"/>
              <a:t>oxygen, size/geometry, pressure, rig/facility, and material explain most model movement.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Conclusions for the results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10789920" cy="47548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323"/>
                </a:solidFill>
              </a:defRPr>
            </a:pPr>
            <a:r>
              <a:t>The honest evaluation is unseen-paper extrapolation, not random-row interpolation.</a:t>
            </a:r>
          </a:p>
          <a:p>
            <a:pPr>
              <a:spcAft>
                <a:spcPts val="800"/>
              </a:spcAft>
              <a:defRPr sz="2000">
                <a:solidFill>
                  <a:srgbClr val="232323"/>
                </a:solidFill>
              </a:defRPr>
            </a:pPr>
            <a:r>
              <a:t>Current final holdout: MLP has the lowest group-aware RMSE (10.64) and highest R² (0.55); KNN is close.</a:t>
            </a:r>
          </a:p>
          <a:p>
            <a:pPr>
              <a:spcAft>
                <a:spcPts val="800"/>
              </a:spcAft>
              <a:defRPr sz="2000">
                <a:solidFill>
                  <a:srgbClr val="232323"/>
                </a:solidFill>
              </a:defRPr>
            </a:pPr>
            <a:r>
              <a:t>Random split overstates KNN performance and should not be used as the primary claim.</a:t>
            </a:r>
          </a:p>
          <a:p>
            <a:pPr>
              <a:spcAft>
                <a:spcPts val="800"/>
              </a:spcAft>
              <a:defRPr sz="2000">
                <a:solidFill>
                  <a:srgbClr val="232323"/>
                </a:solidFill>
              </a:defRPr>
            </a:pPr>
            <a:r>
              <a:t>Bootstrap resampling has mixed effects and is not the main performance driver.</a:t>
            </a:r>
          </a:p>
          <a:p>
            <a:pPr>
              <a:spcAft>
                <a:spcPts val="800"/>
              </a:spcAft>
              <a:defRPr sz="2000">
                <a:solidFill>
                  <a:srgbClr val="232323"/>
                </a:solidFill>
              </a:defRPr>
            </a:pPr>
            <a:r>
              <a:t>Oxygen concentration is the strongest and most physically plausible driver; geometry, pressure, facility/rig, and material are secondary.</a:t>
            </a:r>
          </a:p>
          <a:p>
            <a:pPr>
              <a:spcAft>
                <a:spcPts val="800"/>
              </a:spcAft>
              <a:defRPr sz="2000">
                <a:solidFill>
                  <a:srgbClr val="232323"/>
                </a:solidFill>
              </a:defRPr>
            </a:pPr>
            <a:r>
              <a:t>Next result to add before publication: repeated GroupShuffleSplit / nested group validation to resolve CV-vs-holdout instability.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</TotalTime>
  <Words>1263</Words>
  <Application>Microsoft Office PowerPoint</Application>
  <PresentationFormat>Widescreen</PresentationFormat>
  <Paragraphs>153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Elimami Manef (M.)</cp:lastModifiedBy>
  <cp:revision>2</cp:revision>
  <dcterms:created xsi:type="dcterms:W3CDTF">2013-01-27T09:14:16Z</dcterms:created>
  <dcterms:modified xsi:type="dcterms:W3CDTF">2026-06-25T12:26:55Z</dcterms:modified>
  <cp:category/>
</cp:coreProperties>
</file>